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 Ahmed" userId="e4908aaeb61151f3" providerId="LiveId" clId="{78CF1511-76BF-4808-8B4D-D90D65B1409D}"/>
    <pc:docChg chg="modSld modMainMaster modShowInfo">
      <pc:chgData name="Anis Ahmed" userId="e4908aaeb61151f3" providerId="LiveId" clId="{78CF1511-76BF-4808-8B4D-D90D65B1409D}" dt="2026-03-28T12:42:42.853" v="4" actId="2744"/>
      <pc:docMkLst>
        <pc:docMk/>
      </pc:docMkLst>
      <pc:sldChg chg="modTransition">
        <pc:chgData name="Anis Ahmed" userId="e4908aaeb61151f3" providerId="LiveId" clId="{78CF1511-76BF-4808-8B4D-D90D65B1409D}" dt="2026-03-28T12:42:22.624" v="3"/>
        <pc:sldMkLst>
          <pc:docMk/>
          <pc:sldMk cId="2758479092" sldId="256"/>
        </pc:sldMkLst>
      </pc:sldChg>
      <pc:sldChg chg="modTransition">
        <pc:chgData name="Anis Ahmed" userId="e4908aaeb61151f3" providerId="LiveId" clId="{78CF1511-76BF-4808-8B4D-D90D65B1409D}" dt="2026-03-28T12:42:22.624" v="3"/>
        <pc:sldMkLst>
          <pc:docMk/>
          <pc:sldMk cId="2908015784" sldId="257"/>
        </pc:sldMkLst>
      </pc:sldChg>
      <pc:sldChg chg="modTransition">
        <pc:chgData name="Anis Ahmed" userId="e4908aaeb61151f3" providerId="LiveId" clId="{78CF1511-76BF-4808-8B4D-D90D65B1409D}" dt="2026-03-28T12:42:22.624" v="3"/>
        <pc:sldMkLst>
          <pc:docMk/>
          <pc:sldMk cId="1834055528" sldId="258"/>
        </pc:sldMkLst>
      </pc:sldChg>
      <pc:sldChg chg="modTransition">
        <pc:chgData name="Anis Ahmed" userId="e4908aaeb61151f3" providerId="LiveId" clId="{78CF1511-76BF-4808-8B4D-D90D65B1409D}" dt="2026-03-28T12:42:22.624" v="3"/>
        <pc:sldMkLst>
          <pc:docMk/>
          <pc:sldMk cId="1814872223" sldId="259"/>
        </pc:sldMkLst>
      </pc:sldChg>
      <pc:sldChg chg="modTransition">
        <pc:chgData name="Anis Ahmed" userId="e4908aaeb61151f3" providerId="LiveId" clId="{78CF1511-76BF-4808-8B4D-D90D65B1409D}" dt="2026-03-28T12:42:22.624" v="3"/>
        <pc:sldMkLst>
          <pc:docMk/>
          <pc:sldMk cId="1937765076" sldId="260"/>
        </pc:sldMkLst>
      </pc:sldChg>
      <pc:sldChg chg="modTransition">
        <pc:chgData name="Anis Ahmed" userId="e4908aaeb61151f3" providerId="LiveId" clId="{78CF1511-76BF-4808-8B4D-D90D65B1409D}" dt="2026-03-28T12:42:22.624" v="3"/>
        <pc:sldMkLst>
          <pc:docMk/>
          <pc:sldMk cId="2167638750" sldId="261"/>
        </pc:sldMkLst>
      </pc:sldChg>
      <pc:sldChg chg="modTransition">
        <pc:chgData name="Anis Ahmed" userId="e4908aaeb61151f3" providerId="LiveId" clId="{78CF1511-76BF-4808-8B4D-D90D65B1409D}" dt="2026-03-28T12:42:22.624" v="3"/>
        <pc:sldMkLst>
          <pc:docMk/>
          <pc:sldMk cId="1813613996" sldId="262"/>
        </pc:sldMkLst>
      </pc:sldChg>
      <pc:sldChg chg="modTransition">
        <pc:chgData name="Anis Ahmed" userId="e4908aaeb61151f3" providerId="LiveId" clId="{78CF1511-76BF-4808-8B4D-D90D65B1409D}" dt="2026-03-28T12:42:22.624" v="3"/>
        <pc:sldMkLst>
          <pc:docMk/>
          <pc:sldMk cId="1472342869" sldId="263"/>
        </pc:sldMkLst>
      </pc:sldChg>
      <pc:sldChg chg="modTransition">
        <pc:chgData name="Anis Ahmed" userId="e4908aaeb61151f3" providerId="LiveId" clId="{78CF1511-76BF-4808-8B4D-D90D65B1409D}" dt="2026-03-28T12:42:22.624" v="3"/>
        <pc:sldMkLst>
          <pc:docMk/>
          <pc:sldMk cId="1108600494" sldId="264"/>
        </pc:sldMkLst>
      </pc:sldChg>
      <pc:sldChg chg="modTransition">
        <pc:chgData name="Anis Ahmed" userId="e4908aaeb61151f3" providerId="LiveId" clId="{78CF1511-76BF-4808-8B4D-D90D65B1409D}" dt="2026-03-28T12:42:22.624" v="3"/>
        <pc:sldMkLst>
          <pc:docMk/>
          <pc:sldMk cId="2553770854" sldId="265"/>
        </pc:sldMkLst>
      </pc:sldChg>
      <pc:sldChg chg="modTransition">
        <pc:chgData name="Anis Ahmed" userId="e4908aaeb61151f3" providerId="LiveId" clId="{78CF1511-76BF-4808-8B4D-D90D65B1409D}" dt="2026-03-28T12:42:22.624" v="3"/>
        <pc:sldMkLst>
          <pc:docMk/>
          <pc:sldMk cId="399610458" sldId="266"/>
        </pc:sldMkLst>
      </pc:sldChg>
      <pc:sldChg chg="modTransition">
        <pc:chgData name="Anis Ahmed" userId="e4908aaeb61151f3" providerId="LiveId" clId="{78CF1511-76BF-4808-8B4D-D90D65B1409D}" dt="2026-03-28T12:42:22.624" v="3"/>
        <pc:sldMkLst>
          <pc:docMk/>
          <pc:sldMk cId="2015531911" sldId="267"/>
        </pc:sldMkLst>
      </pc:sldChg>
      <pc:sldChg chg="modTransition">
        <pc:chgData name="Anis Ahmed" userId="e4908aaeb61151f3" providerId="LiveId" clId="{78CF1511-76BF-4808-8B4D-D90D65B1409D}" dt="2026-03-28T12:42:22.624" v="3"/>
        <pc:sldMkLst>
          <pc:docMk/>
          <pc:sldMk cId="2402038955" sldId="268"/>
        </pc:sldMkLst>
      </pc:sldChg>
      <pc:sldMasterChg chg="modTransition modSldLayout">
        <pc:chgData name="Anis Ahmed" userId="e4908aaeb61151f3" providerId="LiveId" clId="{78CF1511-76BF-4808-8B4D-D90D65B1409D}" dt="2026-03-28T12:42:22.624" v="3"/>
        <pc:sldMasterMkLst>
          <pc:docMk/>
          <pc:sldMasterMk cId="2588282452" sldId="2147483696"/>
        </pc:sldMasterMkLst>
        <pc:sldLayoutChg chg="modTransition">
          <pc:chgData name="Anis Ahmed" userId="e4908aaeb61151f3" providerId="LiveId" clId="{78CF1511-76BF-4808-8B4D-D90D65B1409D}" dt="2026-03-28T12:42:22.624" v="3"/>
          <pc:sldLayoutMkLst>
            <pc:docMk/>
            <pc:sldMasterMk cId="2588282452" sldId="2147483696"/>
            <pc:sldLayoutMk cId="3968338840" sldId="2147483697"/>
          </pc:sldLayoutMkLst>
        </pc:sldLayoutChg>
        <pc:sldLayoutChg chg="modTransition">
          <pc:chgData name="Anis Ahmed" userId="e4908aaeb61151f3" providerId="LiveId" clId="{78CF1511-76BF-4808-8B4D-D90D65B1409D}" dt="2026-03-28T12:42:22.624" v="3"/>
          <pc:sldLayoutMkLst>
            <pc:docMk/>
            <pc:sldMasterMk cId="2588282452" sldId="2147483696"/>
            <pc:sldLayoutMk cId="999064291" sldId="2147483698"/>
          </pc:sldLayoutMkLst>
        </pc:sldLayoutChg>
        <pc:sldLayoutChg chg="modTransition">
          <pc:chgData name="Anis Ahmed" userId="e4908aaeb61151f3" providerId="LiveId" clId="{78CF1511-76BF-4808-8B4D-D90D65B1409D}" dt="2026-03-28T12:42:22.624" v="3"/>
          <pc:sldLayoutMkLst>
            <pc:docMk/>
            <pc:sldMasterMk cId="2588282452" sldId="2147483696"/>
            <pc:sldLayoutMk cId="4268512593" sldId="2147483699"/>
          </pc:sldLayoutMkLst>
        </pc:sldLayoutChg>
        <pc:sldLayoutChg chg="modTransition">
          <pc:chgData name="Anis Ahmed" userId="e4908aaeb61151f3" providerId="LiveId" clId="{78CF1511-76BF-4808-8B4D-D90D65B1409D}" dt="2026-03-28T12:42:22.624" v="3"/>
          <pc:sldLayoutMkLst>
            <pc:docMk/>
            <pc:sldMasterMk cId="2588282452" sldId="2147483696"/>
            <pc:sldLayoutMk cId="2679034340" sldId="2147483700"/>
          </pc:sldLayoutMkLst>
        </pc:sldLayoutChg>
        <pc:sldLayoutChg chg="modTransition">
          <pc:chgData name="Anis Ahmed" userId="e4908aaeb61151f3" providerId="LiveId" clId="{78CF1511-76BF-4808-8B4D-D90D65B1409D}" dt="2026-03-28T12:42:22.624" v="3"/>
          <pc:sldLayoutMkLst>
            <pc:docMk/>
            <pc:sldMasterMk cId="2588282452" sldId="2147483696"/>
            <pc:sldLayoutMk cId="613930273" sldId="2147483701"/>
          </pc:sldLayoutMkLst>
        </pc:sldLayoutChg>
        <pc:sldLayoutChg chg="modTransition">
          <pc:chgData name="Anis Ahmed" userId="e4908aaeb61151f3" providerId="LiveId" clId="{78CF1511-76BF-4808-8B4D-D90D65B1409D}" dt="2026-03-28T12:42:22.624" v="3"/>
          <pc:sldLayoutMkLst>
            <pc:docMk/>
            <pc:sldMasterMk cId="2588282452" sldId="2147483696"/>
            <pc:sldLayoutMk cId="631174816" sldId="2147483702"/>
          </pc:sldLayoutMkLst>
        </pc:sldLayoutChg>
        <pc:sldLayoutChg chg="modTransition">
          <pc:chgData name="Anis Ahmed" userId="e4908aaeb61151f3" providerId="LiveId" clId="{78CF1511-76BF-4808-8B4D-D90D65B1409D}" dt="2026-03-28T12:42:22.624" v="3"/>
          <pc:sldLayoutMkLst>
            <pc:docMk/>
            <pc:sldMasterMk cId="2588282452" sldId="2147483696"/>
            <pc:sldLayoutMk cId="3594145693" sldId="2147483703"/>
          </pc:sldLayoutMkLst>
        </pc:sldLayoutChg>
        <pc:sldLayoutChg chg="modTransition">
          <pc:chgData name="Anis Ahmed" userId="e4908aaeb61151f3" providerId="LiveId" clId="{78CF1511-76BF-4808-8B4D-D90D65B1409D}" dt="2026-03-28T12:42:22.624" v="3"/>
          <pc:sldLayoutMkLst>
            <pc:docMk/>
            <pc:sldMasterMk cId="2588282452" sldId="2147483696"/>
            <pc:sldLayoutMk cId="38355154" sldId="2147483704"/>
          </pc:sldLayoutMkLst>
        </pc:sldLayoutChg>
        <pc:sldLayoutChg chg="modTransition">
          <pc:chgData name="Anis Ahmed" userId="e4908aaeb61151f3" providerId="LiveId" clId="{78CF1511-76BF-4808-8B4D-D90D65B1409D}" dt="2026-03-28T12:42:22.624" v="3"/>
          <pc:sldLayoutMkLst>
            <pc:docMk/>
            <pc:sldMasterMk cId="2588282452" sldId="2147483696"/>
            <pc:sldLayoutMk cId="1156410606" sldId="2147483705"/>
          </pc:sldLayoutMkLst>
        </pc:sldLayoutChg>
        <pc:sldLayoutChg chg="modTransition">
          <pc:chgData name="Anis Ahmed" userId="e4908aaeb61151f3" providerId="LiveId" clId="{78CF1511-76BF-4808-8B4D-D90D65B1409D}" dt="2026-03-28T12:42:22.624" v="3"/>
          <pc:sldLayoutMkLst>
            <pc:docMk/>
            <pc:sldMasterMk cId="2588282452" sldId="2147483696"/>
            <pc:sldLayoutMk cId="1037899201" sldId="2147483706"/>
          </pc:sldLayoutMkLst>
        </pc:sldLayoutChg>
        <pc:sldLayoutChg chg="modTransition">
          <pc:chgData name="Anis Ahmed" userId="e4908aaeb61151f3" providerId="LiveId" clId="{78CF1511-76BF-4808-8B4D-D90D65B1409D}" dt="2026-03-28T12:42:22.624" v="3"/>
          <pc:sldLayoutMkLst>
            <pc:docMk/>
            <pc:sldMasterMk cId="2588282452" sldId="2147483696"/>
            <pc:sldLayoutMk cId="1018759981" sldId="214748370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B895-6A57-436F-8CD9-4D1937B1E666}" type="datetimeFigureOut">
              <a:rPr lang="en-US" smtClean="0"/>
              <a:t>28-Mar-26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11DB-F2D7-4A4B-9EF4-913B885826F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33884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B895-6A57-436F-8CD9-4D1937B1E666}" type="datetimeFigureOut">
              <a:rPr lang="en-US" smtClean="0"/>
              <a:t>28-Mar-26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11DB-F2D7-4A4B-9EF4-913B8858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64291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B895-6A57-436F-8CD9-4D1937B1E666}" type="datetimeFigureOut">
              <a:rPr lang="en-US" smtClean="0"/>
              <a:t>28-Mar-26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11DB-F2D7-4A4B-9EF4-913B885826F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512593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B895-6A57-436F-8CD9-4D1937B1E666}" type="datetimeFigureOut">
              <a:rPr lang="en-US" smtClean="0"/>
              <a:t>28-Mar-26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11DB-F2D7-4A4B-9EF4-913B8858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3434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B895-6A57-436F-8CD9-4D1937B1E666}" type="datetimeFigureOut">
              <a:rPr lang="en-US" smtClean="0"/>
              <a:t>28-Mar-26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11DB-F2D7-4A4B-9EF4-913B8858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30273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B895-6A57-436F-8CD9-4D1937B1E666}" type="datetimeFigureOut">
              <a:rPr lang="en-US" smtClean="0"/>
              <a:t>28-Mar-26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11DB-F2D7-4A4B-9EF4-913B8858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7481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B895-6A57-436F-8CD9-4D1937B1E666}" type="datetimeFigureOut">
              <a:rPr lang="en-US" smtClean="0"/>
              <a:t>28-Mar-26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11DB-F2D7-4A4B-9EF4-913B8858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145693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C5FB895-6A57-436F-8CD9-4D1937B1E666}" type="datetimeFigureOut">
              <a:rPr lang="en-US" smtClean="0"/>
              <a:t>28-Mar-26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0D11DB-F2D7-4A4B-9EF4-913B8858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154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B895-6A57-436F-8CD9-4D1937B1E666}" type="datetimeFigureOut">
              <a:rPr lang="en-US" smtClean="0"/>
              <a:t>28-Mar-26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11DB-F2D7-4A4B-9EF4-913B8858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10606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B895-6A57-436F-8CD9-4D1937B1E666}" type="datetimeFigureOut">
              <a:rPr lang="en-US" smtClean="0"/>
              <a:t>28-Mar-26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11DB-F2D7-4A4B-9EF4-913B8858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899201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B895-6A57-436F-8CD9-4D1937B1E666}" type="datetimeFigureOut">
              <a:rPr lang="en-US" smtClean="0"/>
              <a:t>28-Mar-26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11DB-F2D7-4A4B-9EF4-913B8858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59981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C5FB895-6A57-436F-8CD9-4D1937B1E666}" type="datetimeFigureOut">
              <a:rPr lang="en-US" smtClean="0"/>
              <a:t>28-Mar-26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90D11DB-F2D7-4A4B-9EF4-913B885826F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28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6C70-B289-8AB7-E1E0-D92A0F629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707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Aptos ExtraBold" panose="020B0004020202020204" pitchFamily="34" charset="0"/>
              </a:rPr>
              <a:t>Airline Profit Optimization Using Data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3A9396-A09C-DD08-2C3B-68A0B8A83F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40246" y="2836276"/>
            <a:ext cx="7372467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Focus: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Revenue Growth via Occupancy &amp; Pricing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Char char="•"/>
              <a:tabLst/>
            </a:pPr>
            <a:r>
              <a:rPr lang="en-US" altLang="en-US" sz="28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Tools: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SQL, Python (Pandas), Data Visualization </a:t>
            </a:r>
          </a:p>
        </p:txBody>
      </p:sp>
    </p:spTree>
    <p:extLst>
      <p:ext uri="{BB962C8B-B14F-4D97-AF65-F5344CB8AC3E}">
        <p14:creationId xmlns:p14="http://schemas.microsoft.com/office/powerpoint/2010/main" val="240203895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7BBB57-DDA3-65E7-A21D-FB8916116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13535"/>
          </a:xfrm>
        </p:spPr>
        <p:txBody>
          <a:bodyPr/>
          <a:lstStyle/>
          <a:p>
            <a:pPr algn="ctr"/>
            <a:r>
              <a:rPr lang="en-US" sz="4400" dirty="0">
                <a:latin typeface="Aptos ExtraBold" panose="020B0004020202020204" pitchFamily="34" charset="0"/>
              </a:rPr>
              <a:t>Business Problem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BB7BEC-ADC4-2D25-AC96-90B7A746C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Airline margins are shrinking due to: </a:t>
            </a:r>
          </a:p>
          <a:p>
            <a:pPr lvl="2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Rising fuel costs </a:t>
            </a:r>
          </a:p>
          <a:p>
            <a:pPr lvl="2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High taxes &amp; regulations </a:t>
            </a:r>
          </a:p>
          <a:p>
            <a:pPr lvl="2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Fixed operational costs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 Issue: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Flights are operating, but not generating maximum possible revenue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47909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E91A-8E98-3566-175D-788ED3A5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56397"/>
          </a:xfrm>
        </p:spPr>
        <p:txBody>
          <a:bodyPr/>
          <a:lstStyle/>
          <a:p>
            <a:pPr algn="ctr"/>
            <a:r>
              <a:rPr lang="en-US" sz="4400" dirty="0">
                <a:latin typeface="Aptos ExtraBold" panose="020B0004020202020204" pitchFamily="34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2C8CE-6137-ACF4-46D8-A961E3C66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00288"/>
            <a:ext cx="10058400" cy="3568806"/>
          </a:xfrm>
        </p:spPr>
        <p:txBody>
          <a:bodyPr/>
          <a:lstStyle/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Identify underperforming aircraft 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Improve seat occupancy 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Analyze pricing vs volume trade-off 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Quantify impact of operational improvements </a:t>
            </a:r>
          </a:p>
          <a:p>
            <a:pPr marL="201168" lvl="1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None/>
            </a:pPr>
            <a:endParaRPr lang="en-US" sz="2200" b="1" dirty="0">
              <a:solidFill>
                <a:schemeClr val="tx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Goal: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Maximize revenue per flight, not just number of flights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01578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47120-7BF7-D383-9786-7F4DDB120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/>
          <a:lstStyle/>
          <a:p>
            <a:pPr algn="ctr"/>
            <a:r>
              <a:rPr lang="en-US" sz="4400" dirty="0">
                <a:latin typeface="Aptos ExtraBold" panose="020B0004020202020204" pitchFamily="34" charset="0"/>
              </a:rPr>
              <a:t>Data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C418B-CE53-3394-530C-3A2EF2640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43112"/>
            <a:ext cx="10058400" cy="3825981"/>
          </a:xfrm>
        </p:spPr>
        <p:txBody>
          <a:bodyPr>
            <a:normAutofit fontScale="92500" lnSpcReduction="2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6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Dataset: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Airline booking &amp; flight operations data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6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 entities: </a:t>
            </a:r>
          </a:p>
          <a:p>
            <a:pPr lvl="2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Flights </a:t>
            </a:r>
          </a:p>
          <a:p>
            <a:pPr lvl="2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Tickets </a:t>
            </a:r>
          </a:p>
          <a:p>
            <a:pPr lvl="2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Aircrafts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6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Time period: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Mid 2017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6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Data Quality: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Clean, no missing 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05552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3ECFF-D0FD-651A-67CF-EE43F8C03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56397"/>
          </a:xfrm>
        </p:spPr>
        <p:txBody>
          <a:bodyPr/>
          <a:lstStyle/>
          <a:p>
            <a:pPr algn="ctr"/>
            <a:r>
              <a:rPr lang="en-US" sz="4400" dirty="0">
                <a:latin typeface="Aptos ExtraBold" panose="020B0004020202020204" pitchFamily="34" charset="0"/>
              </a:rPr>
              <a:t>Key Metrics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F1C0D-0E4D-499D-66E4-85E174143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57424"/>
            <a:ext cx="10058400" cy="3440219"/>
          </a:xfrm>
        </p:spPr>
        <p:txBody>
          <a:bodyPr/>
          <a:lstStyle/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Occupancy Rate →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Capacity utilization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Revenue →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Total earnings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Avg Ticket Price →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Pricing strength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Revenue =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Volume × Price</a:t>
            </a:r>
            <a:b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87222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2772-8B5D-9673-91D6-66C47DE4C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27822"/>
          </a:xfrm>
        </p:spPr>
        <p:txBody>
          <a:bodyPr/>
          <a:lstStyle/>
          <a:p>
            <a:pPr algn="ctr"/>
            <a:r>
              <a:rPr lang="en-US" sz="4400" dirty="0">
                <a:latin typeface="Aptos ExtraBold" panose="020B0004020202020204" pitchFamily="34" charset="0"/>
              </a:rPr>
              <a:t>Demand Pattern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B1A52-2643-FD8D-372F-4602703EB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88622"/>
            <a:ext cx="4660583" cy="4023360"/>
          </a:xfrm>
        </p:spPr>
        <p:txBody>
          <a:bodyPr/>
          <a:lstStyle/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Peak demand →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Mid-July </a:t>
            </a:r>
          </a:p>
          <a:p>
            <a:pPr marL="475488" lvl="2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FontTx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Decline after August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Strong correlation: </a:t>
            </a:r>
          </a:p>
          <a:p>
            <a:pPr marL="475488" lvl="2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Char char="◦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More bookings = more revenue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Conclusion: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Demand drives revenue more than pricing changes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7FEBA-E20B-84A3-4C62-74837ED4E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974" y="2088622"/>
            <a:ext cx="5834878" cy="310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6507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71FBC-0815-DA22-29FF-AF50D70BF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56397"/>
          </a:xfrm>
        </p:spPr>
        <p:txBody>
          <a:bodyPr/>
          <a:lstStyle/>
          <a:p>
            <a:pPr algn="ctr"/>
            <a:r>
              <a:rPr lang="en-US" sz="4400" dirty="0">
                <a:latin typeface="Aptos ExtraBold" panose="020B0004020202020204" pitchFamily="34" charset="0"/>
              </a:rPr>
              <a:t>Pricing vs Volume Trade-off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D9397-E274-0A91-FF32-E0A4CE15F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23360"/>
          </a:xfrm>
        </p:spPr>
        <p:txBody>
          <a:bodyPr>
            <a:normAutofit lnSpcReduction="1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Business Class →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High revenue, low volume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Economy →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High volume, low price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 observations:</a:t>
            </a:r>
          </a:p>
          <a:p>
            <a:pPr marL="475488" lvl="2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FontTx/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319 → premium pricing (high avg fare) </a:t>
            </a:r>
          </a:p>
          <a:p>
            <a:pPr marL="475488" lvl="2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FontTx/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SU9 → mass volume, lower price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Insight: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Different aircraft operate on different revenue models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71CB8-2977-B440-568A-F9DF218DF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45734"/>
            <a:ext cx="5665346" cy="422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63875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45613-B3E5-A21A-04E7-1AC4FFC3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56410"/>
          </a:xfrm>
        </p:spPr>
        <p:txBody>
          <a:bodyPr/>
          <a:lstStyle/>
          <a:p>
            <a:pPr algn="ctr"/>
            <a:r>
              <a:rPr lang="en-US" sz="4400" dirty="0">
                <a:latin typeface="Aptos ExtraBold" panose="020B0004020202020204" pitchFamily="34" charset="0"/>
              </a:rPr>
              <a:t>Individual Aircraft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44EE5-381C-53DE-6947-075E59924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71700"/>
            <a:ext cx="3631883" cy="3697394"/>
          </a:xfrm>
        </p:spPr>
        <p:txBody>
          <a:bodyPr>
            <a:normAutofit lnSpcReduction="1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SU9 →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highest revenue + highest ticket volume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319 →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high value per ticket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CN1 →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low revenue + weak pricing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None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Insight: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Fleet is not optimized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46EA69-704E-85C5-F84D-801AA7E3E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163" y="2171699"/>
            <a:ext cx="6927827" cy="364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1399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2A8B-114E-4C5B-4765-7F68C982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27822"/>
          </a:xfrm>
        </p:spPr>
        <p:txBody>
          <a:bodyPr/>
          <a:lstStyle/>
          <a:p>
            <a:pPr algn="ctr"/>
            <a:r>
              <a:rPr lang="en-US" sz="4400" dirty="0">
                <a:latin typeface="Aptos ExtraBold" panose="020B0004020202020204" pitchFamily="34" charset="0"/>
              </a:rPr>
              <a:t>Occupancy Problem (Biggest Gap)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3AF7F-824D-A68C-9AB2-A92D7D63D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231958" cy="4023360"/>
          </a:xfrm>
        </p:spPr>
        <p:txBody>
          <a:bodyPr/>
          <a:lstStyle/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Most aircraft &lt; 60% occupancy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Lowest performers: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CR2 (~43%)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319 (~46%)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Insight:</a:t>
            </a:r>
            <a:b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Flights are flying half empty → direct revenue loss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1F1AF-552C-C679-D85D-E7942A51C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238" y="1929452"/>
            <a:ext cx="6329855" cy="385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34286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C5B9-107E-C8D5-1805-52AEE202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84972"/>
          </a:xfrm>
        </p:spPr>
        <p:txBody>
          <a:bodyPr/>
          <a:lstStyle/>
          <a:p>
            <a:pPr algn="ctr"/>
            <a:r>
              <a:rPr lang="en-US" sz="4400" dirty="0">
                <a:latin typeface="Aptos ExtraBold" panose="020B0004020202020204" pitchFamily="34" charset="0"/>
              </a:rPr>
              <a:t>10% Occupancy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77289-5EC0-040B-74F5-CF07DC253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317558" cy="4023360"/>
          </a:xfrm>
        </p:spPr>
        <p:txBody>
          <a:bodyPr/>
          <a:lstStyle/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SU9 → +511M revenue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763 → +436M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773 → +343M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 Insight:</a:t>
            </a:r>
            <a:b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Small efficiency gains → massive financial impact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76B567-FE8E-D418-A4C1-32E8BA7AA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862" y="1845734"/>
            <a:ext cx="4844738" cy="404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0049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C9CB-BBC6-F6E7-07C8-F1EE1EB74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42122"/>
          </a:xfrm>
        </p:spPr>
        <p:txBody>
          <a:bodyPr/>
          <a:lstStyle/>
          <a:p>
            <a:pPr algn="ctr"/>
            <a:r>
              <a:rPr lang="en-US" sz="4400" dirty="0">
                <a:latin typeface="Aptos ExtraBold" panose="020B0004020202020204" pitchFamily="34" charset="0"/>
              </a:rPr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13A98-1157-9EBF-451D-B48113DB9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71676"/>
            <a:ext cx="4998720" cy="4255029"/>
          </a:xfrm>
        </p:spPr>
        <p:txBody>
          <a:bodyPr>
            <a:normAutofit fontScale="32500" lnSpcReduction="20000"/>
          </a:bodyPr>
          <a:lstStyle/>
          <a:p>
            <a:pPr marL="0" indent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7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 Fix Occupancy First</a:t>
            </a:r>
          </a:p>
          <a:p>
            <a:pPr lvl="2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</a:pPr>
            <a:r>
              <a:rPr lang="en-US" sz="5500" dirty="0">
                <a:solidFill>
                  <a:schemeClr val="tx1"/>
                </a:solidFill>
                <a:latin typeface="Aptos" panose="020B0004020202020204" pitchFamily="34" charset="0"/>
              </a:rPr>
              <a:t>Target low-load flights </a:t>
            </a:r>
          </a:p>
          <a:p>
            <a:pPr lvl="2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</a:pPr>
            <a:r>
              <a:rPr lang="en-US" sz="5500" dirty="0">
                <a:solidFill>
                  <a:schemeClr val="tx1"/>
                </a:solidFill>
                <a:latin typeface="Aptos" panose="020B0004020202020204" pitchFamily="34" charset="0"/>
              </a:rPr>
              <a:t>Improve demand generation 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Char char=" "/>
            </a:pPr>
            <a:r>
              <a:rPr lang="en-US" sz="7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2. Aircraft-Specific Strategy</a:t>
            </a:r>
          </a:p>
          <a:p>
            <a:pPr lvl="2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5500" dirty="0">
                <a:solidFill>
                  <a:schemeClr val="tx1"/>
                </a:solidFill>
                <a:latin typeface="Aptos" panose="020B0004020202020204" pitchFamily="34" charset="0"/>
              </a:rPr>
              <a:t>SU9 → maximize volume </a:t>
            </a:r>
          </a:p>
          <a:p>
            <a:pPr lvl="2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5500" dirty="0">
                <a:solidFill>
                  <a:schemeClr val="tx1"/>
                </a:solidFill>
                <a:latin typeface="Aptos" panose="020B0004020202020204" pitchFamily="34" charset="0"/>
              </a:rPr>
              <a:t>319 → maintain premium positioning </a:t>
            </a:r>
          </a:p>
          <a:p>
            <a:pPr lvl="2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5500" dirty="0">
                <a:solidFill>
                  <a:schemeClr val="tx1"/>
                </a:solidFill>
                <a:latin typeface="Aptos" panose="020B0004020202020204" pitchFamily="34" charset="0"/>
              </a:rPr>
              <a:t>CN1 → redesign or reconsider usage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2B0DA-3B6A-8532-B745-1EFFFC18F7F8}"/>
              </a:ext>
            </a:extLst>
          </p:cNvPr>
          <p:cNvSpPr txBox="1"/>
          <p:nvPr/>
        </p:nvSpPr>
        <p:spPr>
          <a:xfrm>
            <a:off x="6486526" y="2100264"/>
            <a:ext cx="46691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ts val="1200"/>
              </a:spcAft>
              <a:buFontTx/>
              <a:buChar char=" "/>
            </a:pPr>
            <a:r>
              <a:rPr lang="en-US" sz="24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3. Demand-Based Pricing</a:t>
            </a:r>
          </a:p>
          <a:p>
            <a:pPr marL="566928" lvl="2" indent="-182880" defTabSz="914400" eaLnBrk="0" fontAlgn="base" hangingPunct="0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</a:rPr>
              <a:t>Adjust fares based on seasonality </a:t>
            </a:r>
          </a:p>
          <a:p>
            <a:pPr marL="566928" lvl="2" indent="-182880" defTabSz="914400" eaLnBrk="0" fontAlgn="base" hangingPunct="0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</a:rPr>
              <a:t>Avoid flat pricing strategy </a:t>
            </a:r>
          </a:p>
          <a:p>
            <a:pPr defTabSz="914400" eaLnBrk="0" fontAlgn="base" hangingPunct="0">
              <a:spcBef>
                <a:spcPts val="600"/>
              </a:spcBef>
              <a:spcAft>
                <a:spcPts val="1200"/>
              </a:spcAft>
              <a:buFontTx/>
              <a:buChar char=" "/>
            </a:pPr>
            <a:r>
              <a:rPr lang="en-US" sz="24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4. Reduce Inefficiencies</a:t>
            </a:r>
          </a:p>
          <a:p>
            <a:pPr marL="566928" lvl="2" indent="-182880" defTabSz="914400" eaLnBrk="0" fontAlgn="base" hangingPunct="0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</a:rPr>
              <a:t>Cut or optimize consistently low-occupancy routes</a:t>
            </a:r>
          </a:p>
        </p:txBody>
      </p:sp>
    </p:spTree>
    <p:extLst>
      <p:ext uri="{BB962C8B-B14F-4D97-AF65-F5344CB8AC3E}">
        <p14:creationId xmlns:p14="http://schemas.microsoft.com/office/powerpoint/2010/main" val="255377085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B7FE-A0BD-DA88-D963-1EAD61E42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42924"/>
            <a:ext cx="10058400" cy="857251"/>
          </a:xfrm>
        </p:spPr>
        <p:txBody>
          <a:bodyPr/>
          <a:lstStyle/>
          <a:p>
            <a:pPr algn="ctr"/>
            <a:r>
              <a:rPr lang="en-US" sz="4400" dirty="0">
                <a:latin typeface="Aptos ExtraBold" panose="020B0004020202020204" pitchFamily="34" charset="0"/>
              </a:rPr>
              <a:t>Final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6995B-D3E0-AEC3-FBD1-85C5D72D7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428874"/>
            <a:ext cx="10058400" cy="3440219"/>
          </a:xfrm>
        </p:spPr>
        <p:txBody>
          <a:bodyPr/>
          <a:lstStyle/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en-US" sz="2400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 Insight: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Profit growth is not about adding flights, It’s about maximizing each flight’s efficiency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b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2400" i="1" dirty="0">
                <a:solidFill>
                  <a:schemeClr val="tx1"/>
                </a:solidFill>
                <a:latin typeface="Aptos" panose="020B0004020202020204" pitchFamily="34" charset="0"/>
              </a:rPr>
              <a:t>“Better utilization beats expansion.”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1045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CCFA-314F-080F-BF67-8848BC614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72188"/>
            <a:ext cx="10058400" cy="1513623"/>
          </a:xfrm>
        </p:spPr>
        <p:txBody>
          <a:bodyPr/>
          <a:lstStyle/>
          <a:p>
            <a:pPr algn="ctr"/>
            <a:r>
              <a:rPr lang="en-US" i="1" spc="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</a:t>
            </a:r>
            <a:br>
              <a:rPr lang="en-US" i="1" spc="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64548-9F38-541D-340F-7B43F9871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72139"/>
            <a:ext cx="7626667" cy="457200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3200" i="1" spc="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Anis Ahmed : Data Analyst</a:t>
            </a:r>
          </a:p>
        </p:txBody>
      </p:sp>
    </p:spTree>
    <p:extLst>
      <p:ext uri="{BB962C8B-B14F-4D97-AF65-F5344CB8AC3E}">
        <p14:creationId xmlns:p14="http://schemas.microsoft.com/office/powerpoint/2010/main" val="201553191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54</TotalTime>
  <Words>393</Words>
  <Application>Microsoft Office PowerPoint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ExtraBold</vt:lpstr>
      <vt:lpstr>Arial</vt:lpstr>
      <vt:lpstr>Calibri</vt:lpstr>
      <vt:lpstr>Calibri Light</vt:lpstr>
      <vt:lpstr>Cascadia Code</vt:lpstr>
      <vt:lpstr>Wingdings</vt:lpstr>
      <vt:lpstr>Retrospect</vt:lpstr>
      <vt:lpstr>Airline Profit Optimization Using Data Analysis</vt:lpstr>
      <vt:lpstr>Business Problem</vt:lpstr>
      <vt:lpstr>Objective</vt:lpstr>
      <vt:lpstr>Data Scope</vt:lpstr>
      <vt:lpstr>Key Metrics </vt:lpstr>
      <vt:lpstr>Demand Pattern Insight</vt:lpstr>
      <vt:lpstr>Pricing vs Volume Trade-off</vt:lpstr>
      <vt:lpstr>Individual Aircraft Performance</vt:lpstr>
      <vt:lpstr>Occupancy Problem (Biggest Gap)</vt:lpstr>
      <vt:lpstr>10% Occupancy Impact</vt:lpstr>
      <vt:lpstr>Strategic Recommendations</vt:lpstr>
      <vt:lpstr>Final Takeaway</vt:lpstr>
      <vt:lpstr>END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 Ahmed</dc:creator>
  <cp:lastModifiedBy>Anis Ahmed</cp:lastModifiedBy>
  <cp:revision>1</cp:revision>
  <dcterms:created xsi:type="dcterms:W3CDTF">2026-03-28T11:49:23Z</dcterms:created>
  <dcterms:modified xsi:type="dcterms:W3CDTF">2026-03-28T12:43:43Z</dcterms:modified>
</cp:coreProperties>
</file>